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72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401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I'm Zaw Myo Tun, and today I'm presenting my capstone project: JumpStart AI Support — an agentic AI customer-support chatbot with human handover, built for a fictional retailer called JumpStart Retail. In the next 15 minutes I'll show you what the system does, demonstrate what I've completed so far, and explain what remains before the end of course on 30 July. The key idea in one sentence: an AI assistant that answers routine retail support questions from approved evidence only — and knows when to hand the conversation to a real human instead of guessing.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business problem is a trust problem, not a technology problem. Retail customers ask questions that range from trivial (what's your return window?) to sensitive (I want my money back). A plain FAQ page can't hold a conversation. But an unconstrained LLM is worse — it will confidently invent a 60-day return policy that doesn't exist, or promise a refund it can't authorise. So the core question my project answers is: how do you build an AI assistant that is useful for routine questions but reliably steps aside — to a real human — the moment it's out of its depth?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solution is a single AI agent with strict governance. Every message passes through four stages: understand, plan-and-act, verify, route. The critical design decision is the VERIFY stage — the system computes its own confidence score from measurable evidence: did retrieval find relevant approved documents? did the database lookup succeed? were all required details collected? It never trusts the language model's self-reported certainty. If confidence is low, the intent is sensitive, or the customer is frustrated — the conversation routes to a human staff member through a live dashboard, with the AI's full reasoning attached so staff don't start from zero.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is deliberately cost-effective and local-first. The whole stack — Django, PostgreSQL with the pgvector extension, the embedding model, and the sentiment model — runs on my own Windows laptop. The only external dependency is the Groq API, which provides the language model for understanding and drafting responses. Importantly, the LLM has NO direct access to my database, no ability to execute code, and no authority over handover decisions — those are all deterministic Django/LangGraph logic. One notable choice: I don't need a separate vector database like Pinecone or ChromaDB — pgvector lets PostgreSQL store the embeddings right next to the relational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Retrieval-Augmented Generation pipeline — the reason the AI can't invent policies. Phase 1 is ingestion: an administrator uploads a policy document — PDF, Word, text or CSV — it's text-extracted, split into chunks, each chunk embedded into a 384-dimensional vector using the all-MiniLM-L6-v2 model running locally, and stored in PostgreSQL via pgvector. Nothing becomes searchable until an admin explicitly approves it. Phase 2 runs on every customer question: the query is embedded with the same model, pgvector's native cosine-distance operator finds the most similar chunks directly in SQL, and only chunks above a 0.45 similarity threshold count as evidence. If nothing clears the threshold, the AI doesn't guess — it treats it as 'no evidence found' and escalates to a human. The retrieved text is injected into the response prompt with a strict instruction: answer ONLY from this evidence.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compiled LangGraph workflow from my code — every box is a real node in agents/graph.py. The blue column is understanding: validate the input (with prompt-injection and small-talk guardrails that never even reach the LLM), load recent history, detect intent and entities, and check whether required details are missing. Orange is planning and acting: choose one tool category and execute it. Purple is verification: an evidence-based confidence formula, then a two-layer safety check on the generated response — a keyword filter plus an LLM groundedness check. The red node on the right is handover — notice how many dashed red arrows lead there: an explicit request, a frustrated customer, failed clarification, low confidence, a sensitive topic with insufficient certainty, or an unsafe response. Every path — every single one — converges on save_state, so no conversation turn ever ends without persisting its state and audit log.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what's actually completed. The full customer experience is working end-to-end, and I'll demonstrate it live. A customer logs in — demo accounts are seeded — browses the store, and opens the chat widget. The conversation happens over WebSockets: typing indicators, read receipts, quick-reply suggestions. The AI can quote the return policy with the real day windows, track a mock order including carrier detail, compute return eligibility for a specific item, and search products. When details are missing — say a return question without knowing when the item was bought — it asks exactly one focused follow-up question, and gives up gracefully to a human after two failed attempts rather than interrogating the customer forever. And at any moment the customer can just type 'talk to a human' — that's caught deterministically in Django, no LLM involved, and escalates immediately.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human side is equally complete. When the AI hands over, every staff member's dashboard gets a real-time alert. Case acceptance is atomic — an SQL-level guarantee that only the first staff member to click Accept gets the case. The staff member sees everything the AI already worked out: why it escalated, what the customer wants, which tools it tried, which knowledge sources it consulted, its confidence score, and a suggested next action — so the customer never has to repeat themselves. On the admin side: the knowledge-approval workflow controls exactly what the AI is allowed to know, and the audit log shows the AI's complete reasoning for every single message — intent detected, tool called, confidence computed, escalation decision — updating live while a conversation is happening. I recently added that live-streaming feature over WebSockets.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heart of the pitch — governance is what separates this from a toy chatbot. Injection attempts are string-matched and blocked before any AI involvement. The language model can only ever act through six allow-listed tools with validated parameters — it cannot touch the database, run code, or decide by itself to hand over. Confidence is computed from measurable evidence, never from the model's self-assessment. Generated responses pass through two safety layers: a keyword filter catching explicit overpromises like 'I will refund you', and a second LLM pass that checks the response is actually grounded in the retrieved evidence — catching subtler hallucinations. To be clear about status: all of these mechanisms are implemented and working in the prototype — the formal, documented testing of them belongs to the next phase, which I'll cover in the remaining-work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demo flow I'll run now — three browser profiles, three roles, one conversation travelling between them. First as the customer: a policy question that gets a grounded answer, an order lookup that hits the real mock-order database, and a deliberately vague return request so you can see the clarification behaviour. Then I'll ask for a human. Watch the staff dashboard in the second window — the case appears in the queue in real time with a sound alert. I'll accept it as staff and reply directly. Finally, in the admin panel, I'll open this same conversation's audit log and you can see every decision the AI made along the way — live. [Run demo — approx 5 minutes. Fallback if live demo fails: screen recording is prepared.]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Being transparent about what remains, exactly as the email asked. The development phase is complete — every feature I showed today is implemented and working. What remains is everything after development: the full testing phase, evaluation, and documentation. Testing: functional, integration and security testing — especially permission boundaries and injection resistance — plus a structured answer-quality evaluation across a representative set of retail questions and a handover-correctness matrix. Evaluation: the anonymous questionnaire targeting 20 to 30 participants, and the three-person usability test on realistic tasks — asking a policy question, tracking an order, going through a handover. And finally the report: writing up the evaluation, packaging screenshots, logs and test results as evidence.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my concrete day-by-day plan for the final ten days. The first two blocks finish the technical evidence: security and integration testing, then the structured RAG-quality and handover-correctness evaluations. In parallel from the 23rd, the questionnaire goes out and I run the usability sessions — these overlap deliberately since questionnaire collection is mostly waiting time. The 26th to 28th is analysis: turning raw responses into charts and themes and writing the evaluation chapter. The final two days are assembly and submission — final report, evidence package, and a recorded demonstration as a safety net. The implementation being already complete is what makes this timeline realistic: nothing on this slide depends on writing new features.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JumpStart AI Support is an AI assistant that answers only from approved evidence, computes its own confidence honestly, and hands difficult conversations to a human with full context attached — so automation helps where it's safe and defers where it isn't. The implementation is complete and everything you saw today runs live on my laptop. The remaining work — testing evidence, user evaluation, and the final report — is scheduled day-by-day through to submission on the 30th. Thank you — I'm happy to take questions, and if there's time I can show any part of the system in more depth.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920240"/>
            <a:ext cx="10332720" cy="2377440"/>
          </a:xfrm>
          <a:prstGeom prst="rect">
            <a:avLst/>
          </a:prstGeom>
          <a:noFill/>
        </p:spPr>
        <p:txBody>
          <a:bodyPr wrap="square">
            <a:spAutoFit/>
          </a:bodyPr>
          <a:lstStyle/>
          <a:p>
            <a:pPr>
              <a:defRPr sz="5400" b="1">
                <a:solidFill>
                  <a:srgbClr val="FFFFFF"/>
                </a:solidFill>
              </a:defRPr>
            </a:pPr>
            <a:r>
              <a:t>JumpStart AI Support</a:t>
            </a:r>
          </a:p>
          <a:p>
            <a:pPr>
              <a:defRPr sz="2400">
                <a:solidFill>
                  <a:srgbClr val="FFD700"/>
                </a:solidFill>
              </a:defRPr>
            </a:pPr>
            <a:r>
              <a:t>An Agentic AI Customer-Support Chatbot with Human Handover</a:t>
            </a:r>
          </a:p>
          <a:p>
            <a:endParaRPr/>
          </a:p>
          <a:p>
            <a:pPr>
              <a:defRPr sz="1800">
                <a:solidFill>
                  <a:srgbClr val="FFFFFF"/>
                </a:solidFill>
              </a:defRPr>
            </a:pPr>
            <a:r>
              <a:t>Sales Pitch Presentation  ·  20 July 2026</a:t>
            </a:r>
          </a:p>
          <a:p>
            <a:pPr>
              <a:defRPr sz="1600">
                <a:solidFill>
                  <a:srgbClr val="AAB5C8"/>
                </a:solidFill>
              </a:defRPr>
            </a:pPr>
            <a:r>
              <a:t>Zaw Myo Tun  ·  HDSE Capstone Project (INTL-HDSE-CPL-0725)</a:t>
            </a:r>
          </a:p>
        </p:txBody>
      </p:sp>
      <p:sp>
        <p:nvSpPr>
          <p:cNvPr id="4" name="Rectangle 3"/>
          <p:cNvSpPr/>
          <p:nvPr/>
        </p:nvSpPr>
        <p:spPr>
          <a:xfrm>
            <a:off x="0" y="6309360"/>
            <a:ext cx="12191695" cy="5486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The Problem</a:t>
            </a:r>
          </a:p>
          <a:p>
            <a:pPr>
              <a:defRPr sz="1300">
                <a:solidFill>
                  <a:srgbClr val="FFD700"/>
                </a:solidFill>
              </a:defRPr>
            </a:pPr>
            <a:r>
              <a:t>Why retail customer support is hard to automate safely</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900">
                <a:solidFill>
                  <a:srgbClr val="222222"/>
                </a:solidFill>
              </a:defRPr>
            </a:pPr>
            <a:r>
              <a:t>Customers expect instant answers — order status, returns, delivery, payments — at any hour.</a:t>
            </a:r>
          </a:p>
          <a:p>
            <a:pPr>
              <a:spcAft>
                <a:spcPts val="800"/>
              </a:spcAft>
              <a:defRPr sz="1900">
                <a:solidFill>
                  <a:srgbClr val="222222"/>
                </a:solidFill>
              </a:defRPr>
            </a:pPr>
            <a:r>
              <a:t>A plain FAQ page cannot hold a multi-turn conversation or use the customer’s account context.</a:t>
            </a:r>
          </a:p>
          <a:p>
            <a:pPr>
              <a:spcAft>
                <a:spcPts val="800"/>
              </a:spcAft>
              <a:defRPr sz="1900">
                <a:solidFill>
                  <a:srgbClr val="222222"/>
                </a:solidFill>
              </a:defRPr>
            </a:pPr>
            <a:r>
              <a:t>But a raw LLM chatbot is dangerous for a business:</a:t>
            </a:r>
          </a:p>
          <a:p>
            <a:pPr lvl="1">
              <a:spcAft>
                <a:spcPts val="800"/>
              </a:spcAft>
              <a:defRPr sz="1700">
                <a:solidFill>
                  <a:srgbClr val="666666"/>
                </a:solidFill>
              </a:defRPr>
            </a:pPr>
            <a:r>
              <a:t>It can invent policies that don’t exist ("hallucination")</a:t>
            </a:r>
          </a:p>
          <a:p>
            <a:pPr lvl="1">
              <a:spcAft>
                <a:spcPts val="800"/>
              </a:spcAft>
              <a:defRPr sz="1700">
                <a:solidFill>
                  <a:srgbClr val="666666"/>
                </a:solidFill>
              </a:defRPr>
            </a:pPr>
            <a:r>
              <a:t>It can promise refunds or cancellations it has no authority to give</a:t>
            </a:r>
          </a:p>
          <a:p>
            <a:pPr lvl="1">
              <a:spcAft>
                <a:spcPts val="800"/>
              </a:spcAft>
              <a:defRPr sz="1700">
                <a:solidFill>
                  <a:srgbClr val="666666"/>
                </a:solidFill>
              </a:defRPr>
            </a:pPr>
            <a:r>
              <a:t>It keeps talking even when the customer is frustrated and needs a person</a:t>
            </a:r>
          </a:p>
          <a:p>
            <a:pPr>
              <a:spcAft>
                <a:spcPts val="800"/>
              </a:spcAft>
              <a:defRPr sz="1900">
                <a:solidFill>
                  <a:srgbClr val="222222"/>
                </a:solidFill>
              </a:defRPr>
            </a:pPr>
            <a:r>
              <a:t>The real question: not "can AI answer?" but "can AI know when NOT to answer?"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The Solution: A Governed Hybrid AI + Human Service</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900">
                <a:solidFill>
                  <a:srgbClr val="222222"/>
                </a:solidFill>
              </a:defRPr>
            </a:pPr>
            <a:r>
              <a:t>One AI agent, four disciplines — every customer message goes through:</a:t>
            </a:r>
          </a:p>
          <a:p>
            <a:pPr lvl="1">
              <a:spcAft>
                <a:spcPts val="800"/>
              </a:spcAft>
              <a:defRPr sz="1700">
                <a:solidFill>
                  <a:srgbClr val="666666"/>
                </a:solidFill>
              </a:defRPr>
            </a:pPr>
            <a:r>
              <a:t>UNDERSTAND — detect intent, extract details, read sentiment</a:t>
            </a:r>
          </a:p>
          <a:p>
            <a:pPr lvl="1">
              <a:spcAft>
                <a:spcPts val="800"/>
              </a:spcAft>
              <a:defRPr sz="1700">
                <a:solidFill>
                  <a:srgbClr val="666666"/>
                </a:solidFill>
              </a:defRPr>
            </a:pPr>
            <a:r>
              <a:t>PLAN &amp; ACT — choose ONE approved tool (policy search, order lookup, return check…)</a:t>
            </a:r>
          </a:p>
          <a:p>
            <a:pPr lvl="1">
              <a:spcAft>
                <a:spcPts val="800"/>
              </a:spcAft>
              <a:defRPr sz="1700">
                <a:solidFill>
                  <a:srgbClr val="666666"/>
                </a:solidFill>
              </a:defRPr>
            </a:pPr>
            <a:r>
              <a:t>VERIFY — compute evidence-based confidence; never trust the model’s own certainty</a:t>
            </a:r>
          </a:p>
          <a:p>
            <a:pPr lvl="1">
              <a:spcAft>
                <a:spcPts val="800"/>
              </a:spcAft>
              <a:defRPr sz="1700">
                <a:solidFill>
                  <a:srgbClr val="666666"/>
                </a:solidFill>
              </a:defRPr>
            </a:pPr>
            <a:r>
              <a:t>ROUTE — answer, ask a follow-up question, or hand over to human staff</a:t>
            </a:r>
          </a:p>
          <a:p>
            <a:pPr>
              <a:spcAft>
                <a:spcPts val="800"/>
              </a:spcAft>
              <a:defRPr sz="1900">
                <a:solidFill>
                  <a:srgbClr val="222222"/>
                </a:solidFill>
              </a:defRPr>
            </a:pPr>
            <a:r>
              <a:t>Answers are grounded ONLY in admin-approved knowledge + real database lookups.</a:t>
            </a:r>
          </a:p>
          <a:p>
            <a:pPr>
              <a:spcAft>
                <a:spcPts val="800"/>
              </a:spcAft>
              <a:defRPr sz="1900">
                <a:solidFill>
                  <a:srgbClr val="222222"/>
                </a:solidFill>
              </a:defRPr>
            </a:pPr>
            <a:r>
              <a:t>Human handover is a first-class feature: a live staff dashboard with a real-time queue.</a:t>
            </a:r>
          </a:p>
          <a:p>
            <a:pPr>
              <a:spcAft>
                <a:spcPts val="800"/>
              </a:spcAft>
              <a:defRPr sz="1900">
                <a:solidFill>
                  <a:srgbClr val="222222"/>
                </a:solidFill>
              </a:defRPr>
            </a:pPr>
            <a:r>
              <a:t>Full audit trail: every AI decision is logged and visible to the administrator.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System Architecture</a:t>
            </a:r>
          </a:p>
          <a:p>
            <a:pPr>
              <a:defRPr sz="1300">
                <a:solidFill>
                  <a:srgbClr val="FFD700"/>
                </a:solidFill>
              </a:defRPr>
            </a:pPr>
            <a:r>
              <a:t>Everything runs locally except one external LLM API</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34440"/>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Frontend</a:t>
            </a:r>
          </a:p>
        </p:txBody>
      </p:sp>
      <p:sp>
        <p:nvSpPr>
          <p:cNvPr id="5" name="TextBox 4"/>
          <p:cNvSpPr txBox="1"/>
          <p:nvPr/>
        </p:nvSpPr>
        <p:spPr>
          <a:xfrm>
            <a:off x="2880360" y="1271016"/>
            <a:ext cx="8869680" cy="822960"/>
          </a:xfrm>
          <a:prstGeom prst="rect">
            <a:avLst/>
          </a:prstGeom>
          <a:noFill/>
        </p:spPr>
        <p:txBody>
          <a:bodyPr wrap="square">
            <a:spAutoFit/>
          </a:bodyPr>
          <a:lstStyle/>
          <a:p>
            <a:pPr>
              <a:defRPr sz="1450">
                <a:solidFill>
                  <a:srgbClr val="222222"/>
                </a:solidFill>
              </a:defRPr>
            </a:pPr>
            <a:r>
              <a:t>Django templates + Tailwind CSS + HTMX + Alpine.js — customer store, chat panel, staff &amp; admin dashboards</a:t>
            </a:r>
          </a:p>
        </p:txBody>
      </p:sp>
      <p:sp>
        <p:nvSpPr>
          <p:cNvPr id="6" name="Rectangle 5"/>
          <p:cNvSpPr/>
          <p:nvPr/>
        </p:nvSpPr>
        <p:spPr>
          <a:xfrm>
            <a:off x="457200" y="2130552"/>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Backend</a:t>
            </a:r>
          </a:p>
        </p:txBody>
      </p:sp>
      <p:sp>
        <p:nvSpPr>
          <p:cNvPr id="7" name="TextBox 6"/>
          <p:cNvSpPr txBox="1"/>
          <p:nvPr/>
        </p:nvSpPr>
        <p:spPr>
          <a:xfrm>
            <a:off x="2880360" y="2167128"/>
            <a:ext cx="8869680" cy="822960"/>
          </a:xfrm>
          <a:prstGeom prst="rect">
            <a:avLst/>
          </a:prstGeom>
          <a:noFill/>
        </p:spPr>
        <p:txBody>
          <a:bodyPr wrap="square">
            <a:spAutoFit/>
          </a:bodyPr>
          <a:lstStyle/>
          <a:p>
            <a:pPr>
              <a:defRPr sz="1450">
                <a:solidFill>
                  <a:srgbClr val="222222"/>
                </a:solidFill>
              </a:defRPr>
            </a:pPr>
            <a:r>
              <a:t>Django 5 + Django REST Framework — auth (JWT + session), REST APIs, role-based access (customer / staff / admin)</a:t>
            </a:r>
          </a:p>
        </p:txBody>
      </p:sp>
      <p:sp>
        <p:nvSpPr>
          <p:cNvPr id="8" name="Rectangle 7"/>
          <p:cNvSpPr/>
          <p:nvPr/>
        </p:nvSpPr>
        <p:spPr>
          <a:xfrm>
            <a:off x="457200" y="3026664"/>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Real-time</a:t>
            </a:r>
          </a:p>
        </p:txBody>
      </p:sp>
      <p:sp>
        <p:nvSpPr>
          <p:cNvPr id="9" name="TextBox 8"/>
          <p:cNvSpPr txBox="1"/>
          <p:nvPr/>
        </p:nvSpPr>
        <p:spPr>
          <a:xfrm>
            <a:off x="2880360" y="3063240"/>
            <a:ext cx="8869680" cy="822960"/>
          </a:xfrm>
          <a:prstGeom prst="rect">
            <a:avLst/>
          </a:prstGeom>
          <a:noFill/>
        </p:spPr>
        <p:txBody>
          <a:bodyPr wrap="square">
            <a:spAutoFit/>
          </a:bodyPr>
          <a:lstStyle/>
          <a:p>
            <a:pPr>
              <a:defRPr sz="1450">
                <a:solidFill>
                  <a:srgbClr val="222222"/>
                </a:solidFill>
              </a:defRPr>
            </a:pPr>
            <a:r>
              <a:t>Django Channels + WebSockets — live chat, staff queue alerts, live admin audit log (HTTP polling fallback)</a:t>
            </a:r>
          </a:p>
        </p:txBody>
      </p:sp>
      <p:sp>
        <p:nvSpPr>
          <p:cNvPr id="10" name="Rectangle 9"/>
          <p:cNvSpPr/>
          <p:nvPr/>
        </p:nvSpPr>
        <p:spPr>
          <a:xfrm>
            <a:off x="457200" y="3922776"/>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AI Agent</a:t>
            </a:r>
          </a:p>
        </p:txBody>
      </p:sp>
      <p:sp>
        <p:nvSpPr>
          <p:cNvPr id="11" name="TextBox 10"/>
          <p:cNvSpPr txBox="1"/>
          <p:nvPr/>
        </p:nvSpPr>
        <p:spPr>
          <a:xfrm>
            <a:off x="2880360" y="3959352"/>
            <a:ext cx="8869680" cy="822960"/>
          </a:xfrm>
          <a:prstGeom prst="rect">
            <a:avLst/>
          </a:prstGeom>
          <a:noFill/>
        </p:spPr>
        <p:txBody>
          <a:bodyPr wrap="square">
            <a:spAutoFit/>
          </a:bodyPr>
          <a:lstStyle/>
          <a:p>
            <a:pPr>
              <a:defRPr sz="1450">
                <a:solidFill>
                  <a:srgbClr val="222222"/>
                </a:solidFill>
              </a:defRPr>
            </a:pPr>
            <a:r>
              <a:t>LangGraph single-agent workflow — 14 nodes, deterministic routing, Groq API (openai/gpt-oss-20b) for language only</a:t>
            </a:r>
          </a:p>
        </p:txBody>
      </p:sp>
      <p:sp>
        <p:nvSpPr>
          <p:cNvPr id="12" name="Rectangle 11"/>
          <p:cNvSpPr/>
          <p:nvPr/>
        </p:nvSpPr>
        <p:spPr>
          <a:xfrm>
            <a:off x="457200" y="4818888"/>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Knowledge / RAG</a:t>
            </a:r>
          </a:p>
        </p:txBody>
      </p:sp>
      <p:sp>
        <p:nvSpPr>
          <p:cNvPr id="13" name="TextBox 12"/>
          <p:cNvSpPr txBox="1"/>
          <p:nvPr/>
        </p:nvSpPr>
        <p:spPr>
          <a:xfrm>
            <a:off x="2880360" y="4855464"/>
            <a:ext cx="8869680" cy="822960"/>
          </a:xfrm>
          <a:prstGeom prst="rect">
            <a:avLst/>
          </a:prstGeom>
          <a:noFill/>
        </p:spPr>
        <p:txBody>
          <a:bodyPr wrap="square">
            <a:spAutoFit/>
          </a:bodyPr>
          <a:lstStyle/>
          <a:p>
            <a:pPr>
              <a:defRPr sz="1450">
                <a:solidFill>
                  <a:srgbClr val="222222"/>
                </a:solidFill>
              </a:defRPr>
            </a:pPr>
            <a:r>
              <a:t>PostgreSQL + pgvector — approved documents, 384-dim MiniLM embeddings, cosine similarity search</a:t>
            </a:r>
          </a:p>
        </p:txBody>
      </p:sp>
      <p:sp>
        <p:nvSpPr>
          <p:cNvPr id="14" name="Rectangle 13"/>
          <p:cNvSpPr/>
          <p:nvPr/>
        </p:nvSpPr>
        <p:spPr>
          <a:xfrm>
            <a:off x="457200" y="5715000"/>
            <a:ext cx="2194560" cy="77724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t>Local ML</a:t>
            </a:r>
          </a:p>
        </p:txBody>
      </p:sp>
      <p:sp>
        <p:nvSpPr>
          <p:cNvPr id="15" name="TextBox 14"/>
          <p:cNvSpPr txBox="1"/>
          <p:nvPr/>
        </p:nvSpPr>
        <p:spPr>
          <a:xfrm>
            <a:off x="2880360" y="5751576"/>
            <a:ext cx="8869680" cy="822960"/>
          </a:xfrm>
          <a:prstGeom prst="rect">
            <a:avLst/>
          </a:prstGeom>
          <a:noFill/>
        </p:spPr>
        <p:txBody>
          <a:bodyPr wrap="square">
            <a:spAutoFit/>
          </a:bodyPr>
          <a:lstStyle/>
          <a:p>
            <a:pPr>
              <a:defRPr sz="1450">
                <a:solidFill>
                  <a:srgbClr val="222222"/>
                </a:solidFill>
              </a:defRPr>
            </a:pPr>
            <a:r>
              <a:t>Sentence-Transformers embeddings + Hugging Face RoBERTa sentiment — both run on my own laptop, no API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How RAG Works in JumpStart</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rag_diagram.png"/>
          <p:cNvPicPr>
            <a:picLocks noChangeAspect="1"/>
          </p:cNvPicPr>
          <p:nvPr/>
        </p:nvPicPr>
        <p:blipFill>
          <a:blip r:embed="rId3"/>
          <a:stretch>
            <a:fillRect/>
          </a:stretch>
        </p:blipFill>
        <p:spPr>
          <a:xfrm>
            <a:off x="952107" y="1056632"/>
            <a:ext cx="10228082" cy="56316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The Agentic Workflow (LangGraph)</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langgraph_diagram.png"/>
          <p:cNvPicPr>
            <a:picLocks noChangeAspect="1"/>
          </p:cNvPicPr>
          <p:nvPr/>
        </p:nvPicPr>
        <p:blipFill>
          <a:blip r:embed="rId3"/>
          <a:stretch>
            <a:fillRect/>
          </a:stretch>
        </p:blipFill>
        <p:spPr>
          <a:xfrm>
            <a:off x="792069" y="923827"/>
            <a:ext cx="10607861" cy="594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Completed — Customer Experience</a:t>
            </a:r>
          </a:p>
          <a:p>
            <a:pPr>
              <a:defRPr sz="1300">
                <a:solidFill>
                  <a:srgbClr val="FFD700"/>
                </a:solidFill>
              </a:defRPr>
            </a:pPr>
            <a:r>
              <a:t>Ready to demonstrate live</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800">
                <a:solidFill>
                  <a:srgbClr val="222222"/>
                </a:solidFill>
              </a:defRPr>
            </a:pPr>
            <a:r>
              <a:t>Full retail storefront: 6 categories, 18 products, cart-ready product pages, demo accounts.</a:t>
            </a:r>
          </a:p>
          <a:p>
            <a:pPr>
              <a:spcAft>
                <a:spcPts val="800"/>
              </a:spcAft>
              <a:defRPr sz="1800">
                <a:solidFill>
                  <a:srgbClr val="222222"/>
                </a:solidFill>
              </a:defRPr>
            </a:pPr>
            <a:r>
              <a:t>Authenticated real-time chat widget (WebSocket, with HTTP polling fallback):</a:t>
            </a:r>
          </a:p>
          <a:p>
            <a:pPr lvl="1">
              <a:spcAft>
                <a:spcPts val="800"/>
              </a:spcAft>
              <a:defRPr sz="1600">
                <a:solidFill>
                  <a:srgbClr val="666666"/>
                </a:solidFill>
              </a:defRPr>
            </a:pPr>
            <a:r>
              <a:t>Typing indicators, read receipts, quick-reply buttons, session history</a:t>
            </a:r>
          </a:p>
          <a:p>
            <a:pPr>
              <a:spcAft>
                <a:spcPts val="800"/>
              </a:spcAft>
              <a:defRPr sz="1800">
                <a:solidFill>
                  <a:srgbClr val="222222"/>
                </a:solidFill>
              </a:defRPr>
            </a:pPr>
            <a:r>
              <a:t>The AI answers grounded questions: policies, order tracking, return eligibility, product search.</a:t>
            </a:r>
          </a:p>
          <a:p>
            <a:pPr>
              <a:spcAft>
                <a:spcPts val="800"/>
              </a:spcAft>
              <a:defRPr sz="1800">
                <a:solidFill>
                  <a:srgbClr val="222222"/>
                </a:solidFill>
              </a:defRPr>
            </a:pPr>
            <a:r>
              <a:t>Multi-turn clarification — asks ONE focused question when details are missing (max 2 attempts).</a:t>
            </a:r>
          </a:p>
          <a:p>
            <a:pPr>
              <a:spcAft>
                <a:spcPts val="800"/>
              </a:spcAft>
              <a:defRPr sz="1800">
                <a:solidFill>
                  <a:srgbClr val="222222"/>
                </a:solidFill>
              </a:defRPr>
            </a:pPr>
            <a:r>
              <a:t>Sentiment-aware: a frustrated complaint is held to a stricter confidence bar.</a:t>
            </a:r>
          </a:p>
          <a:p>
            <a:pPr>
              <a:spcAft>
                <a:spcPts val="800"/>
              </a:spcAft>
              <a:defRPr sz="1800">
                <a:solidFill>
                  <a:srgbClr val="222222"/>
                </a:solidFill>
              </a:defRPr>
            </a:pPr>
            <a:r>
              <a:t>"Talk to a human" works at any time — instantly, without AI involvement.</a:t>
            </a:r>
          </a:p>
          <a:p>
            <a:pPr>
              <a:spcAft>
                <a:spcPts val="800"/>
              </a:spcAft>
              <a:defRPr sz="1800">
                <a:solidFill>
                  <a:srgbClr val="222222"/>
                </a:solidFill>
              </a:defRPr>
            </a:pPr>
            <a:r>
              <a:t>Post-resolution thumbs up/down feedback with optional reason.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Completed — Staff &amp; Admin Dashboards</a:t>
            </a:r>
          </a:p>
          <a:p>
            <a:pPr>
              <a:defRPr sz="1300">
                <a:solidFill>
                  <a:srgbClr val="FFD700"/>
                </a:solidFill>
              </a:defRPr>
            </a:pPr>
            <a:r>
              <a:t>Ready to demonstrate live</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800">
                <a:solidFill>
                  <a:srgbClr val="222222"/>
                </a:solidFill>
              </a:defRPr>
            </a:pPr>
            <a:r>
              <a:t>Staff dashboard: live queue (WebSocket alerts), atomic first-accept, 3-case limit per staff.</a:t>
            </a:r>
          </a:p>
          <a:p>
            <a:pPr>
              <a:spcAft>
                <a:spcPts val="800"/>
              </a:spcAft>
              <a:defRPr sz="1800">
                <a:solidFill>
                  <a:srgbClr val="222222"/>
                </a:solidFill>
              </a:defRPr>
            </a:pPr>
            <a:r>
              <a:t>Staff chat with full AI context handed over: reason, customer goal, intents, entities,</a:t>
            </a:r>
          </a:p>
          <a:p>
            <a:pPr lvl="1">
              <a:spcAft>
                <a:spcPts val="800"/>
              </a:spcAft>
              <a:defRPr sz="1600">
                <a:solidFill>
                  <a:srgbClr val="666666"/>
                </a:solidFill>
              </a:defRPr>
            </a:pPr>
            <a:r>
              <a:t>tools already tried, knowledge sources consulted, AI confidence, suggested action</a:t>
            </a:r>
          </a:p>
          <a:p>
            <a:pPr>
              <a:spcAft>
                <a:spcPts val="800"/>
              </a:spcAft>
              <a:defRPr sz="1800">
                <a:solidFill>
                  <a:srgbClr val="222222"/>
                </a:solidFill>
              </a:defRPr>
            </a:pPr>
            <a:r>
              <a:t>Internal staff notes + resolve / return-to-AI controls.</a:t>
            </a:r>
          </a:p>
          <a:p>
            <a:pPr>
              <a:spcAft>
                <a:spcPts val="800"/>
              </a:spcAft>
              <a:defRPr sz="1800">
                <a:solidFill>
                  <a:srgbClr val="222222"/>
                </a:solidFill>
              </a:defRPr>
            </a:pPr>
            <a:r>
              <a:t>Admin panel: knowledge base upload → preview → approve/reject workflow (PDF/DOCX/TXT/CSV).</a:t>
            </a:r>
          </a:p>
          <a:p>
            <a:pPr>
              <a:spcAft>
                <a:spcPts val="800"/>
              </a:spcAft>
              <a:defRPr sz="1800">
                <a:solidFill>
                  <a:srgbClr val="222222"/>
                </a:solidFill>
              </a:defRPr>
            </a:pPr>
            <a:r>
              <a:t>Admin audit log: per-conversation, per-message AI reasoning trace — live-updating via WebSocket.</a:t>
            </a:r>
          </a:p>
          <a:p>
            <a:pPr>
              <a:spcAft>
                <a:spcPts val="800"/>
              </a:spcAft>
              <a:defRPr sz="1800">
                <a:solidFill>
                  <a:srgbClr val="222222"/>
                </a:solidFill>
              </a:defRPr>
            </a:pPr>
            <a:r>
              <a:t>RAG metrics dashboard, user management, feedback review — all role-gated.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Completed — Safety &amp; Governance</a:t>
            </a:r>
          </a:p>
          <a:p>
            <a:pPr>
              <a:defRPr sz="1300">
                <a:solidFill>
                  <a:srgbClr val="FFD700"/>
                </a:solidFill>
              </a:defRPr>
            </a:pPr>
            <a:r>
              <a:t>The part that makes it trustworthy</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800">
                <a:solidFill>
                  <a:srgbClr val="222222"/>
                </a:solidFill>
              </a:defRPr>
            </a:pPr>
            <a:r>
              <a:t>Prompt-injection guard: "ignore your instructions…" never reaches the LLM or tools.</a:t>
            </a:r>
          </a:p>
          <a:p>
            <a:pPr>
              <a:spcAft>
                <a:spcPts val="800"/>
              </a:spcAft>
              <a:defRPr sz="1800">
                <a:solidFill>
                  <a:srgbClr val="222222"/>
                </a:solidFill>
              </a:defRPr>
            </a:pPr>
            <a:r>
              <a:t>The LLM has NO database access, NO code execution, NO handover authority.</a:t>
            </a:r>
          </a:p>
          <a:p>
            <a:pPr>
              <a:spcAft>
                <a:spcPts val="800"/>
              </a:spcAft>
              <a:defRPr sz="1800">
                <a:solidFill>
                  <a:srgbClr val="222222"/>
                </a:solidFill>
              </a:defRPr>
            </a:pPr>
            <a:r>
              <a:t>Tool allow-list: exactly 6 approved functions with validated parameters.</a:t>
            </a:r>
          </a:p>
          <a:p>
            <a:pPr>
              <a:spcAft>
                <a:spcPts val="800"/>
              </a:spcAft>
              <a:defRPr sz="1800">
                <a:solidFill>
                  <a:srgbClr val="222222"/>
                </a:solidFill>
              </a:defRPr>
            </a:pPr>
            <a:r>
              <a:t>Evidence-based confidence (HIGH / MEDIUM / LOW) — from retrieval scores, tool success,</a:t>
            </a:r>
          </a:p>
          <a:p>
            <a:pPr lvl="1">
              <a:spcAft>
                <a:spcPts val="800"/>
              </a:spcAft>
              <a:defRPr sz="1600">
                <a:solidFill>
                  <a:srgbClr val="666666"/>
                </a:solidFill>
              </a:defRPr>
            </a:pPr>
            <a:r>
              <a:t>and data completeness. Sensitive intents (refund / cancellation / complaint) penalised.</a:t>
            </a:r>
          </a:p>
          <a:p>
            <a:pPr>
              <a:spcAft>
                <a:spcPts val="800"/>
              </a:spcAft>
              <a:defRPr sz="1800">
                <a:solidFill>
                  <a:srgbClr val="222222"/>
                </a:solidFill>
              </a:defRPr>
            </a:pPr>
            <a:r>
              <a:t>Two-layer response safety: forbidden-promise keyword filter + LLM groundedness check.</a:t>
            </a:r>
          </a:p>
          <a:p>
            <a:pPr>
              <a:spcAft>
                <a:spcPts val="800"/>
              </a:spcAft>
              <a:defRPr sz="1800">
                <a:solidFill>
                  <a:srgbClr val="222222"/>
                </a:solidFill>
              </a:defRPr>
            </a:pPr>
            <a:r>
              <a:t>Ownership checks everywhere: customers can only ever see their own data.</a:t>
            </a:r>
          </a:p>
          <a:p>
            <a:pPr>
              <a:spcAft>
                <a:spcPts val="800"/>
              </a:spcAft>
              <a:defRPr sz="1800">
                <a:solidFill>
                  <a:srgbClr val="222222"/>
                </a:solidFill>
              </a:defRPr>
            </a:pPr>
            <a:r>
              <a:t>All of the above is implemented — formal testing of it is the next phase.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Live Demonstration</a:t>
            </a:r>
          </a:p>
          <a:p>
            <a:pPr>
              <a:defRPr sz="1300">
                <a:solidFill>
                  <a:srgbClr val="FFD700"/>
                </a:solidFill>
              </a:defRPr>
            </a:pPr>
            <a:r>
              <a:t>Three roles, one conversation</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800"/>
              </a:spcAft>
              <a:defRPr sz="2000">
                <a:solidFill>
                  <a:srgbClr val="222222"/>
                </a:solidFill>
              </a:defRPr>
            </a:pPr>
            <a:r>
              <a:t>1.  CUSTOMER — asks a policy question → grounded AI answer with sources.</a:t>
            </a:r>
          </a:p>
          <a:p>
            <a:pPr>
              <a:spcAft>
                <a:spcPts val="800"/>
              </a:spcAft>
              <a:defRPr sz="2000">
                <a:solidFill>
                  <a:srgbClr val="222222"/>
                </a:solidFill>
              </a:defRPr>
            </a:pPr>
            <a:r>
              <a:t>2.  CUSTOMER — asks about an order → real database lookup, carrier tracking detail.</a:t>
            </a:r>
          </a:p>
          <a:p>
            <a:pPr>
              <a:spcAft>
                <a:spcPts val="800"/>
              </a:spcAft>
              <a:defRPr sz="2000">
                <a:solidFill>
                  <a:srgbClr val="222222"/>
                </a:solidFill>
              </a:defRPr>
            </a:pPr>
            <a:r>
              <a:t>3.  CUSTOMER — vague return request → AI asks a focused clarification question.</a:t>
            </a:r>
          </a:p>
          <a:p>
            <a:pPr>
              <a:spcAft>
                <a:spcPts val="800"/>
              </a:spcAft>
              <a:defRPr sz="2000">
                <a:solidFill>
                  <a:srgbClr val="222222"/>
                </a:solidFill>
              </a:defRPr>
            </a:pPr>
            <a:r>
              <a:t>4.  CUSTOMER — "talk to a human" → instant escalation, waiting state shown.</a:t>
            </a:r>
          </a:p>
          <a:p>
            <a:pPr>
              <a:spcAft>
                <a:spcPts val="800"/>
              </a:spcAft>
              <a:defRPr sz="2000">
                <a:solidFill>
                  <a:srgbClr val="222222"/>
                </a:solidFill>
              </a:defRPr>
            </a:pPr>
            <a:r>
              <a:t>5.  STAFF — live queue alert → accept case → chat directly with the customer.</a:t>
            </a:r>
          </a:p>
          <a:p>
            <a:pPr>
              <a:spcAft>
                <a:spcPts val="800"/>
              </a:spcAft>
              <a:defRPr sz="2000">
                <a:solidFill>
                  <a:srgbClr val="222222"/>
                </a:solidFill>
              </a:defRPr>
            </a:pPr>
            <a:r>
              <a:t>6.  ADMIN — open the audit log → watch the AI’s reasoning for each message, live.</a:t>
            </a:r>
          </a:p>
        </p:txBody>
      </p:sp>
      <p:sp>
        <p:nvSpPr>
          <p:cNvPr id="5" name="Rectangle 4"/>
          <p:cNvSpPr/>
          <p:nvPr/>
        </p:nvSpPr>
        <p:spPr>
          <a:xfrm>
            <a:off x="548640" y="5806440"/>
            <a:ext cx="11064240" cy="64008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222222"/>
                </a:solidFill>
              </a:defRPr>
            </a:pPr>
            <a:r>
              <a:t>Demo accounts:  customer_demo / staff_demo / admin_demo  ·  all seeded via manage.py seed_data + seed_knowledge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Remaining Work</a:t>
            </a:r>
          </a:p>
          <a:p>
            <a:pPr>
              <a:defRPr sz="1300">
                <a:solidFill>
                  <a:srgbClr val="FFD700"/>
                </a:solidFill>
              </a:defRPr>
            </a:pPr>
            <a:r>
              <a:t>Development is complete — testing, evaluation and documentation are next</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11064240" cy="5120640"/>
          </a:xfrm>
          <a:prstGeom prst="rect">
            <a:avLst/>
          </a:prstGeom>
          <a:noFill/>
        </p:spPr>
        <p:txBody>
          <a:bodyPr wrap="square">
            <a:spAutoFit/>
          </a:bodyPr>
          <a:lstStyle/>
          <a:p>
            <a:pPr>
              <a:spcAft>
                <a:spcPts val="800"/>
              </a:spcAft>
              <a:defRPr sz="1800">
                <a:solidFill>
                  <a:srgbClr val="222222"/>
                </a:solidFill>
              </a:defRPr>
            </a:pPr>
            <a:r>
              <a:t>TESTING &amp; DEBUGGING (next phase)</a:t>
            </a:r>
          </a:p>
          <a:p>
            <a:pPr lvl="1">
              <a:spcAft>
                <a:spcPts val="800"/>
              </a:spcAft>
              <a:defRPr sz="1600">
                <a:solidFill>
                  <a:srgbClr val="666666"/>
                </a:solidFill>
              </a:defRPr>
            </a:pPr>
            <a:r>
              <a:t>Functional, integration &amp; security testing: permissions, injection attempts, edge cases</a:t>
            </a:r>
          </a:p>
          <a:p>
            <a:pPr lvl="1">
              <a:spcAft>
                <a:spcPts val="800"/>
              </a:spcAft>
              <a:defRPr sz="1600">
                <a:solidFill>
                  <a:srgbClr val="666666"/>
                </a:solidFill>
              </a:defRPr>
            </a:pPr>
            <a:r>
              <a:t>Structured RAG answer-quality evaluation across representative retail questions</a:t>
            </a:r>
          </a:p>
          <a:p>
            <a:pPr lvl="1">
              <a:spcAft>
                <a:spcPts val="800"/>
              </a:spcAft>
              <a:defRPr sz="1600">
                <a:solidFill>
                  <a:srgbClr val="666666"/>
                </a:solidFill>
              </a:defRPr>
            </a:pPr>
            <a:r>
              <a:t>Handover-correctness test matrix: right cases escalate, no unnecessary escalations</a:t>
            </a:r>
          </a:p>
          <a:p>
            <a:pPr>
              <a:spcAft>
                <a:spcPts val="800"/>
              </a:spcAft>
              <a:defRPr sz="1800">
                <a:solidFill>
                  <a:srgbClr val="222222"/>
                </a:solidFill>
              </a:defRPr>
            </a:pPr>
            <a:r>
              <a:t>EVALUATION</a:t>
            </a:r>
          </a:p>
          <a:p>
            <a:pPr lvl="1">
              <a:spcAft>
                <a:spcPts val="800"/>
              </a:spcAft>
              <a:defRPr sz="1600">
                <a:solidFill>
                  <a:srgbClr val="666666"/>
                </a:solidFill>
              </a:defRPr>
            </a:pPr>
            <a:r>
              <a:t>Anonymous questionnaire (~20–30 participants) — expectations &amp; concerns</a:t>
            </a:r>
          </a:p>
          <a:p>
            <a:pPr lvl="1">
              <a:spcAft>
                <a:spcPts val="800"/>
              </a:spcAft>
              <a:defRPr sz="1600">
                <a:solidFill>
                  <a:srgbClr val="666666"/>
                </a:solidFill>
              </a:defRPr>
            </a:pPr>
            <a:r>
              <a:t>Exploratory usability test with 3 participants on realistic support tasks</a:t>
            </a:r>
          </a:p>
          <a:p>
            <a:pPr lvl="1">
              <a:spcAft>
                <a:spcPts val="800"/>
              </a:spcAft>
              <a:defRPr sz="1600">
                <a:solidFill>
                  <a:srgbClr val="666666"/>
                </a:solidFill>
              </a:defRPr>
            </a:pPr>
            <a:r>
              <a:t>Analysis of feedback, confidence bands and handover reasons from real usage</a:t>
            </a:r>
          </a:p>
          <a:p>
            <a:pPr>
              <a:spcAft>
                <a:spcPts val="800"/>
              </a:spcAft>
              <a:defRPr sz="1800">
                <a:solidFill>
                  <a:srgbClr val="222222"/>
                </a:solidFill>
              </a:defRPr>
            </a:pPr>
            <a:r>
              <a:t>DOCUMENTATION — final report, evaluation write-up, evidence packaging.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lIns="457200" tIns="109728" rtlCol="0" anchor="ctr"/>
          <a:lstStyle/>
          <a:p>
            <a:pPr algn="ctr">
              <a:defRPr sz="3000" b="1">
                <a:solidFill>
                  <a:srgbClr val="FFFFFF"/>
                </a:solidFill>
              </a:defRPr>
            </a:pPr>
            <a:r>
              <a:t>Plan to End of Course — 30 July 2026</a:t>
            </a:r>
          </a:p>
        </p:txBody>
      </p:sp>
      <p:sp>
        <p:nvSpPr>
          <p:cNvPr id="3" name="Rectangle 2"/>
          <p:cNvSpPr/>
          <p:nvPr/>
        </p:nvSpPr>
        <p:spPr>
          <a:xfrm>
            <a:off x="0" y="914400"/>
            <a:ext cx="12191695"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0" y="1371600"/>
            <a:ext cx="2103120" cy="82296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20–22 July</a:t>
            </a:r>
          </a:p>
        </p:txBody>
      </p:sp>
      <p:sp>
        <p:nvSpPr>
          <p:cNvPr id="5" name="TextBox 4"/>
          <p:cNvSpPr txBox="1"/>
          <p:nvPr/>
        </p:nvSpPr>
        <p:spPr>
          <a:xfrm>
            <a:off x="2880360" y="1481328"/>
            <a:ext cx="8869680" cy="822960"/>
          </a:xfrm>
          <a:prstGeom prst="rect">
            <a:avLst/>
          </a:prstGeom>
          <a:noFill/>
        </p:spPr>
        <p:txBody>
          <a:bodyPr wrap="square">
            <a:spAutoFit/>
          </a:bodyPr>
          <a:lstStyle/>
          <a:p>
            <a:pPr>
              <a:defRPr sz="1600">
                <a:solidFill>
                  <a:srgbClr val="222222"/>
                </a:solidFill>
              </a:defRPr>
            </a:pPr>
            <a:r>
              <a:t>Incorporate today’s feedback · functional, security &amp; integration testing</a:t>
            </a:r>
          </a:p>
        </p:txBody>
      </p:sp>
      <p:sp>
        <p:nvSpPr>
          <p:cNvPr id="6" name="Rectangle 5"/>
          <p:cNvSpPr/>
          <p:nvPr/>
        </p:nvSpPr>
        <p:spPr>
          <a:xfrm>
            <a:off x="548640" y="2359152"/>
            <a:ext cx="2103120" cy="82296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22–24 July</a:t>
            </a:r>
          </a:p>
        </p:txBody>
      </p:sp>
      <p:sp>
        <p:nvSpPr>
          <p:cNvPr id="7" name="TextBox 6"/>
          <p:cNvSpPr txBox="1"/>
          <p:nvPr/>
        </p:nvSpPr>
        <p:spPr>
          <a:xfrm>
            <a:off x="2880360" y="2468880"/>
            <a:ext cx="8869680" cy="822960"/>
          </a:xfrm>
          <a:prstGeom prst="rect">
            <a:avLst/>
          </a:prstGeom>
          <a:noFill/>
        </p:spPr>
        <p:txBody>
          <a:bodyPr wrap="square">
            <a:spAutoFit/>
          </a:bodyPr>
          <a:lstStyle/>
          <a:p>
            <a:pPr>
              <a:defRPr sz="1600">
                <a:solidFill>
                  <a:srgbClr val="222222"/>
                </a:solidFill>
              </a:defRPr>
            </a:pPr>
            <a:r>
              <a:t>Debugging · RAG answer-quality evaluation · handover-correctness test matrix</a:t>
            </a:r>
          </a:p>
        </p:txBody>
      </p:sp>
      <p:sp>
        <p:nvSpPr>
          <p:cNvPr id="8" name="Rectangle 7"/>
          <p:cNvSpPr/>
          <p:nvPr/>
        </p:nvSpPr>
        <p:spPr>
          <a:xfrm>
            <a:off x="548640" y="3346704"/>
            <a:ext cx="2103120" cy="8229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23–26 July</a:t>
            </a:r>
          </a:p>
        </p:txBody>
      </p:sp>
      <p:sp>
        <p:nvSpPr>
          <p:cNvPr id="9" name="TextBox 8"/>
          <p:cNvSpPr txBox="1"/>
          <p:nvPr/>
        </p:nvSpPr>
        <p:spPr>
          <a:xfrm>
            <a:off x="2880360" y="3456432"/>
            <a:ext cx="8869680" cy="822960"/>
          </a:xfrm>
          <a:prstGeom prst="rect">
            <a:avLst/>
          </a:prstGeom>
          <a:noFill/>
        </p:spPr>
        <p:txBody>
          <a:bodyPr wrap="square">
            <a:spAutoFit/>
          </a:bodyPr>
          <a:lstStyle/>
          <a:p>
            <a:pPr>
              <a:defRPr sz="1600">
                <a:solidFill>
                  <a:srgbClr val="222222"/>
                </a:solidFill>
              </a:defRPr>
            </a:pPr>
            <a:r>
              <a:t>Questionnaire distribution &amp; collection · 3-participant usability sessions</a:t>
            </a:r>
          </a:p>
        </p:txBody>
      </p:sp>
      <p:sp>
        <p:nvSpPr>
          <p:cNvPr id="10" name="Rectangle 9"/>
          <p:cNvSpPr/>
          <p:nvPr/>
        </p:nvSpPr>
        <p:spPr>
          <a:xfrm>
            <a:off x="548640" y="4334256"/>
            <a:ext cx="2103120" cy="8229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26–28 July</a:t>
            </a:r>
          </a:p>
        </p:txBody>
      </p:sp>
      <p:sp>
        <p:nvSpPr>
          <p:cNvPr id="11" name="TextBox 10"/>
          <p:cNvSpPr txBox="1"/>
          <p:nvPr/>
        </p:nvSpPr>
        <p:spPr>
          <a:xfrm>
            <a:off x="2880360" y="4443984"/>
            <a:ext cx="8869680" cy="822960"/>
          </a:xfrm>
          <a:prstGeom prst="rect">
            <a:avLst/>
          </a:prstGeom>
          <a:noFill/>
        </p:spPr>
        <p:txBody>
          <a:bodyPr wrap="square">
            <a:spAutoFit/>
          </a:bodyPr>
          <a:lstStyle/>
          <a:p>
            <a:pPr>
              <a:defRPr sz="1600">
                <a:solidFill>
                  <a:srgbClr val="222222"/>
                </a:solidFill>
              </a:defRPr>
            </a:pPr>
            <a:r>
              <a:t>Analyse results · charts &amp; thematic analysis · evaluation chapter</a:t>
            </a:r>
          </a:p>
        </p:txBody>
      </p:sp>
      <p:sp>
        <p:nvSpPr>
          <p:cNvPr id="12" name="Rectangle 11"/>
          <p:cNvSpPr/>
          <p:nvPr/>
        </p:nvSpPr>
        <p:spPr>
          <a:xfrm>
            <a:off x="548640" y="5321808"/>
            <a:ext cx="2103120" cy="822960"/>
          </a:xfrm>
          <a:prstGeom prst="rect">
            <a:avLst/>
          </a:prstGeom>
          <a:solidFill>
            <a:srgbClr val="1E9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28–30 July</a:t>
            </a:r>
          </a:p>
        </p:txBody>
      </p:sp>
      <p:sp>
        <p:nvSpPr>
          <p:cNvPr id="13" name="TextBox 12"/>
          <p:cNvSpPr txBox="1"/>
          <p:nvPr/>
        </p:nvSpPr>
        <p:spPr>
          <a:xfrm>
            <a:off x="2880360" y="5431536"/>
            <a:ext cx="8869680" cy="822960"/>
          </a:xfrm>
          <a:prstGeom prst="rect">
            <a:avLst/>
          </a:prstGeom>
          <a:noFill/>
        </p:spPr>
        <p:txBody>
          <a:bodyPr wrap="square">
            <a:spAutoFit/>
          </a:bodyPr>
          <a:lstStyle/>
          <a:p>
            <a:pPr>
              <a:defRPr sz="1600">
                <a:solidFill>
                  <a:srgbClr val="222222"/>
                </a:solidFill>
              </a:defRPr>
            </a:pPr>
            <a:r>
              <a:t>Final report assembly · evidence packaging · recorded demo · submission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332720" cy="4114800"/>
          </a:xfrm>
          <a:prstGeom prst="rect">
            <a:avLst/>
          </a:prstGeom>
          <a:noFill/>
        </p:spPr>
        <p:txBody>
          <a:bodyPr wrap="square">
            <a:spAutoFit/>
          </a:bodyPr>
          <a:lstStyle/>
          <a:p>
            <a:pPr>
              <a:defRPr sz="3600" b="1">
                <a:solidFill>
                  <a:srgbClr val="FFD700"/>
                </a:solidFill>
              </a:defRPr>
            </a:pPr>
            <a:r>
              <a:t>The Pitch, in One Slide</a:t>
            </a:r>
          </a:p>
          <a:p>
            <a:pPr>
              <a:defRPr sz="1200">
                <a:solidFill>
                  <a:srgbClr val="FFFFFF"/>
                </a:solidFill>
              </a:defRPr>
            </a:pPr>
            <a:endParaRPr/>
          </a:p>
          <a:p>
            <a:pPr>
              <a:defRPr sz="2400">
                <a:solidFill>
                  <a:srgbClr val="FFFFFF"/>
                </a:solidFill>
              </a:defRPr>
            </a:pPr>
            <a:r>
              <a:t>An AI assistant that answers from approved evidence only,</a:t>
            </a:r>
          </a:p>
          <a:p>
            <a:pPr>
              <a:defRPr sz="2400">
                <a:solidFill>
                  <a:srgbClr val="FFFFFF"/>
                </a:solidFill>
              </a:defRPr>
            </a:pPr>
            <a:r>
              <a:t>knows its own confidence,</a:t>
            </a:r>
          </a:p>
          <a:p>
            <a:pPr>
              <a:defRPr sz="2400">
                <a:solidFill>
                  <a:srgbClr val="FFFFFF"/>
                </a:solidFill>
              </a:defRPr>
            </a:pPr>
            <a:r>
              <a:t>and hands difficult conversations to a human — with full context.</a:t>
            </a:r>
          </a:p>
          <a:p>
            <a:pPr>
              <a:defRPr sz="1200">
                <a:solidFill>
                  <a:srgbClr val="FFFFFF"/>
                </a:solidFill>
              </a:defRPr>
            </a:pPr>
            <a:endParaRPr/>
          </a:p>
          <a:p>
            <a:pPr>
              <a:defRPr sz="2000">
                <a:solidFill>
                  <a:srgbClr val="FFFFFF"/>
                </a:solidFill>
              </a:defRPr>
            </a:pPr>
            <a:r>
              <a:t>Development: complete and demonstrable today.</a:t>
            </a:r>
          </a:p>
          <a:p>
            <a:pPr>
              <a:defRPr sz="2000">
                <a:solidFill>
                  <a:srgbClr val="FFFFFF"/>
                </a:solidFill>
              </a:defRPr>
            </a:pPr>
            <a:r>
              <a:t>Testing, evaluation &amp; final report: on track for 30 July.</a:t>
            </a:r>
          </a:p>
        </p:txBody>
      </p:sp>
      <p:sp>
        <p:nvSpPr>
          <p:cNvPr id="4" name="TextBox 3"/>
          <p:cNvSpPr txBox="1"/>
          <p:nvPr/>
        </p:nvSpPr>
        <p:spPr>
          <a:xfrm>
            <a:off x="914400" y="5760720"/>
            <a:ext cx="10332720" cy="731520"/>
          </a:xfrm>
          <a:prstGeom prst="rect">
            <a:avLst/>
          </a:prstGeom>
          <a:noFill/>
        </p:spPr>
        <p:txBody>
          <a:bodyPr wrap="square">
            <a:spAutoFit/>
          </a:bodyPr>
          <a:lstStyle/>
          <a:p>
            <a:pPr>
              <a:defRPr sz="2200" b="1">
                <a:solidFill>
                  <a:srgbClr val="FF6B35"/>
                </a:solidFill>
              </a:defRPr>
            </a:pPr>
            <a: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2912</Words>
  <Application>Microsoft Office PowerPoint</Application>
  <PresentationFormat>Widescreen</PresentationFormat>
  <Paragraphs>121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user</cp:lastModifiedBy>
  <cp:revision>4</cp:revision>
  <dcterms:created xsi:type="dcterms:W3CDTF">2013-01-27T09:14:16Z</dcterms:created>
  <dcterms:modified xsi:type="dcterms:W3CDTF">2026-07-19T15:00:47Z</dcterms:modified>
  <cp:category/>
</cp:coreProperties>
</file>